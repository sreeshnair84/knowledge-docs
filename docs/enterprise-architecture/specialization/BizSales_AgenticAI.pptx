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1371600" cy="5143500"/>
          </a:xfrm>
          <a:prstGeom prst="rect">
            <a:avLst/>
          </a:prstGeom>
          <a:solidFill>
            <a:srgbClr val="E8533A">
              <a:alpha val="18000"/>
            </a:srgbClr>
          </a:solidFill>
          <a:ln w="12700">
            <a:solidFill>
              <a:srgbClr val="E8533A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F4A623">
              <a:alpha val="12000"/>
            </a:srgbClr>
          </a:solidFill>
          <a:ln w="12700">
            <a:solidFill>
              <a:srgbClr val="F4A623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" y="0"/>
            <a:ext cx="54864" cy="5143500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05840"/>
            <a:ext cx="2743200" cy="32004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SALES  |  2026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57200" y="245059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Opportunity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21868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Agents Win More Deals, Retain More Customers,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Create Competitive Advantage That Compounds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1737360" cy="502920"/>
          </a:xfrm>
          <a:prstGeom prst="rect">
            <a:avLst/>
          </a:prstGeom>
          <a:solidFill>
            <a:srgbClr val="162038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31720" y="4069080"/>
            <a:ext cx="1737360" cy="502920"/>
          </a:xfrm>
          <a:prstGeom prst="rect">
            <a:avLst/>
          </a:prstGeom>
          <a:solidFill>
            <a:srgbClr val="162038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31720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CAC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06240" y="4069080"/>
            <a:ext cx="1737360" cy="502920"/>
          </a:xfrm>
          <a:prstGeom prst="rect">
            <a:avLst/>
          </a:prstGeom>
          <a:solidFill>
            <a:srgbClr val="162038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NRR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8188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 ·  MEDDPICC  ·  Challenger  ·  JTBD  ·  Flywheel  ·  Land &amp; Expand  ·  OKR  ·  BAB  ·  FAB  ·  CLV/CAC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  —  WHY NOW, WHY AGENTS?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14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98448"/>
            <a:ext cx="41148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41732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reps spend 65% of time on non-selling tasks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go cold — avg 47 hrs response time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51460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 carrying 300+ accounts manually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30632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reacts to churn — too late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61188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Forecasting: gut feel + spreadsheets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914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298448"/>
            <a:ext cx="41148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41732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handle research, prep, follow-up 24/7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196596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personalised outreach at scale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251460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monitors all accounts; flags risk signals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30632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intervention before churn window opens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pipeline confidence scores from data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148840"/>
            <a:ext cx="713232" cy="502920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24528" y="214884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4425696"/>
            <a:ext cx="8503920" cy="62179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4622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282%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" y="4736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in AI adoption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(Salesforce 2025)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423160" y="4535424"/>
            <a:ext cx="9144" cy="40233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88920" y="44622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788920" y="4736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of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sales teams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26280" y="4535424"/>
            <a:ext cx="9144" cy="40233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44622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47hrs→2min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892040" y="4736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response time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 automation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629400" y="4535424"/>
            <a:ext cx="9144" cy="40233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95160" y="44622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$52B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995160" y="4736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 market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ACCELERATION  —  HOW AGENTS SUPERCHARGE YOUR METHODOLOGY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86968"/>
            <a:ext cx="4023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MEDDPICC × AI 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6187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04088" y="1261872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481328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auto-calculates ROI based on prospect's financials + industry benchmarks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0040" y="1737360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73736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4088" y="1737360"/>
            <a:ext cx="3611880" cy="402336"/>
          </a:xfrm>
          <a:prstGeom prst="rect">
            <a:avLst/>
          </a:prstGeom>
          <a:solidFill>
            <a:srgbClr val="FFF8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7830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Buyer: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04672" y="195681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maps org chart, surfaces economic buyer from LinkedIn + CRM signals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20040" y="2212848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221284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2212848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225856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Criteria: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" y="243230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to call transcripts; extracts and tracks buying criteria automatically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0040" y="2688336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68833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" y="2688336"/>
            <a:ext cx="3611880" cy="402336"/>
          </a:xfrm>
          <a:prstGeom prst="rect">
            <a:avLst/>
          </a:prstGeom>
          <a:solidFill>
            <a:srgbClr val="FFF8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273405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Process: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4672" y="2907792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deal velocity; flags process stalls before they become losses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20040" y="3163824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16382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04088" y="3163824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320954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Pain: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04672" y="3383280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question agent surfaces pain via news alerts, earnings calls, job postings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639312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639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04088" y="3639312"/>
            <a:ext cx="3611880" cy="402336"/>
          </a:xfrm>
          <a:prstGeom prst="rect">
            <a:avLst/>
          </a:prstGeom>
          <a:solidFill>
            <a:srgbClr val="FFF8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36850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Champion: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04672" y="3858768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champion engagement score; alerts when champion goes quiet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0040" y="4114800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1148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04088" y="4114800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" y="416052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Competition: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04672" y="433425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competitive intel: pricing changes, win/loss patterns, battlecards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4590288"/>
            <a:ext cx="384048" cy="402336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59028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04088" y="4590288"/>
            <a:ext cx="3611880" cy="402336"/>
          </a:xfrm>
          <a:prstGeom prst="rect">
            <a:avLst/>
          </a:prstGeom>
          <a:solidFill>
            <a:srgbClr val="FFF8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" y="463600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Plan: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04672" y="480974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mutual success plan; tracks milestone completion daily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572000" y="886968"/>
            <a:ext cx="4251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Selling × AI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2000" y="1261872"/>
            <a:ext cx="4251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572000" y="1261872"/>
            <a:ext cx="502920" cy="68580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0" y="126187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5166360" y="1316736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66360" y="16002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pre-researches every call: revenue, headcount, tech stack, recent news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72000" y="2039112"/>
            <a:ext cx="4251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572000" y="2039112"/>
            <a:ext cx="502920" cy="68580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203911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5166360" y="2093976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66360" y="23774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surfaces industry pain patterns from 10,000+ similar companies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0" y="2816352"/>
            <a:ext cx="4251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572000" y="2816352"/>
            <a:ext cx="502920" cy="685800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0" y="281635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5166360" y="2871216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66360" y="31546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auto-calculates cost of inaction using prospect's own numbers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572000" y="3593592"/>
            <a:ext cx="4251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572000" y="3593592"/>
            <a:ext cx="502920" cy="685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0" y="359359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5166360" y="3648456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Need-Payoff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166360" y="39319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ROI model tailored to prospect's KPIs — generated live in call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572000" y="4407408"/>
            <a:ext cx="4251960" cy="594360"/>
          </a:xfrm>
          <a:prstGeom prst="rect">
            <a:avLst/>
          </a:prstGeom>
          <a:solidFill>
            <a:srgbClr val="1A2744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709160" y="4462272"/>
            <a:ext cx="4005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 Sale + Agents:  </a:t>
            </a:r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prepares insight-led teaching content tailored to each prospect's industry — not a brochure. Teach → Tailor → Take Control, at scale.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  —  FLYWHEEL × JTBD × AGENT TOUCHPOINTS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788920" cy="4114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144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2788920" cy="594360"/>
          </a:xfrm>
          <a:prstGeom prst="rect">
            <a:avLst/>
          </a:prstGeom>
          <a:solidFill>
            <a:srgbClr val="FFF8F0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3716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Jobs-to-be-Done: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29768" y="1572768"/>
            <a:ext cx="2606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"Help me find the right solution without wasting time"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920240"/>
            <a:ext cx="27889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9768" y="199339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Agents activate: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9768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agent creates SEO-optimised articles daily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9768" y="295351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research agent identifies ICP matches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9768" y="35753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signal agent monitors buying signals in real-time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46120" y="914400"/>
            <a:ext cx="2788920" cy="41148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9144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46120" y="1325880"/>
            <a:ext cx="2788920" cy="594360"/>
          </a:xfrm>
          <a:prstGeom prst="rect">
            <a:avLst/>
          </a:prstGeom>
          <a:solidFill>
            <a:srgbClr val="FFF8F0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13716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Jobs-to-be-Done: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55848" y="1572768"/>
            <a:ext cx="2606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"Help me understand if this solves MY specific problem"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46120" y="1920240"/>
            <a:ext cx="27889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55848" y="199339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Agents activate: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55848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outreach agent — 1:1 at scale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55848" y="295351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prep agent builds custom deck per prospect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55848" y="35753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 agent surfaces relevant case studies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914400"/>
            <a:ext cx="2788920" cy="411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9144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72200" y="1325880"/>
            <a:ext cx="2788920" cy="594360"/>
          </a:xfrm>
          <a:prstGeom prst="rect">
            <a:avLst/>
          </a:prstGeom>
          <a:solidFill>
            <a:srgbClr val="FFF8F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13716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Jobs-to-be-Done: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281928" y="1572768"/>
            <a:ext cx="2606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"Help me succeed fast and prove ROI to my boss"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72200" y="1920240"/>
            <a:ext cx="27889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281928" y="199339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Agents activate: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81928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agent guides customer through first 90 days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1928" y="295351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agent monitors adoption; flags risk accounts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81928" y="35753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agent surfaces upsell triggers from usage data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044952" y="10515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971032" y="10515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20040" y="4425696"/>
            <a:ext cx="8503920" cy="594360"/>
          </a:xfrm>
          <a:prstGeom prst="rect">
            <a:avLst/>
          </a:prstGeom>
          <a:solidFill>
            <a:srgbClr val="1A2744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Net Revenue Retention (NRR):  </a:t>
            </a:r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Flywheel's ultimate score. AI high performers report NRR &gt;120% — each customer grows revenue without new acquisition cost. This is where agents compound.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FRAMEWORK  —  HOW TO CALCULATE THE AGENT BUSINESS CASE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88920" cy="3977640"/>
          </a:xfrm>
          <a:prstGeom prst="rect">
            <a:avLst/>
          </a:prstGeom>
          <a:solidFill>
            <a:srgbClr val="162038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88920" cy="5303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9601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Revenue Lift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53619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9105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deals closed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186537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handles 80% of pre-sales research → rep sells more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1480" y="235915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1401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268833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outreach increases meeting conversion by 3×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1480" y="318211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23697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sales cycle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351129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follow-up closes deals 30% faster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1480" y="400507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05993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/ expansion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33425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agent surfaces upsell signal before renewal window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0" y="914400"/>
            <a:ext cx="2788920" cy="3977640"/>
          </a:xfrm>
          <a:prstGeom prst="rect">
            <a:avLst/>
          </a:prstGeom>
          <a:solidFill>
            <a:srgbClr val="162038"/>
          </a:solidFill>
          <a:ln w="12700">
            <a:solidFill>
              <a:srgbClr val="F4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914400"/>
            <a:ext cx="2788920" cy="530352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9601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Cost Reduction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337560" y="153619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29000" y="159105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CAC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29000" y="186537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replaces 40% of outbound SDR manual effort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37560" y="235915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29000" y="241401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churn cost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29000" y="268833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→ 15% churn reduction = large ARR retention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337560" y="318211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29000" y="323697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deflection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429000" y="351129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resolves 60–70% of tier-1 tickets autonomously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37560" y="400507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29000" y="405993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automation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29000" y="433425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updates, proposals, reports — zero human time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26480" y="914400"/>
            <a:ext cx="2788920" cy="3977640"/>
          </a:xfrm>
          <a:prstGeom prst="rect">
            <a:avLst/>
          </a:prstGeom>
          <a:solidFill>
            <a:srgbClr val="162038"/>
          </a:solidFill>
          <a:ln w="12700">
            <a:solidFill>
              <a:srgbClr val="E853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0" y="914400"/>
            <a:ext cx="2788920" cy="530352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6208" y="9601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Efficiency Gains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263640" y="153619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59105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 capacity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355080" y="186537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rep manages 2–3× more accounts with agent assist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63640" y="235915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55080" y="241401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time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55080" y="268833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rep onboarding cut from 6 months to 6 weeks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63640" y="318211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3697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55080" y="351129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Agent-driven forecasting: 85% vs 52% industry average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4005072"/>
            <a:ext cx="2532888" cy="713232"/>
          </a:xfrm>
          <a:prstGeom prst="rect">
            <a:avLst/>
          </a:prstGeom>
          <a:solidFill>
            <a:srgbClr val="0F1A30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405993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quality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355080" y="433425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calls pre-briefed, summarised, actioned by agent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  —  LAND &amp; EXPAND × OKR FOR AGENTIC AI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86968"/>
            <a:ext cx="8503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&amp; Expand — The Agentic GTM Playbook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2084832" cy="38404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28016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44475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Prove Fast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664208"/>
            <a:ext cx="208483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173736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painful workflow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218541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single-use-case agent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4048" y="26334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hard: time saved, $ impact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308152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results with champion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3630168"/>
            <a:ext cx="2084832" cy="347472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36301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ROI in 30 days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864" y="228600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50592" y="1280160"/>
            <a:ext cx="2084832" cy="384048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50592" y="128016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450592" y="144475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Sticky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50592" y="1664208"/>
            <a:ext cx="208483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60320" y="173736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5–10 power users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60320" y="218541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into daily workflows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0" y="26334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adoption rate weekly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308152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testimonials + NPS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50592" y="3630168"/>
            <a:ext cx="2084832" cy="347472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50592" y="36301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80% weekly active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17136" y="228600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26864" y="1280160"/>
            <a:ext cx="2084832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26864" y="128016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26864" y="144475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Footprint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26864" y="1664208"/>
            <a:ext cx="208483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36592" y="173736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2nd use case from success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36592" y="218541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adjacent teams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36592" y="26334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internal champion network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36592" y="308152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enterprise agreement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26864" y="3630168"/>
            <a:ext cx="2084832" cy="34747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26864" y="36301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3× initial ARR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93408" y="228600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803136" y="1280160"/>
            <a:ext cx="2084832" cy="38404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03136" y="128016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144475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In &amp; Renew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803136" y="1664208"/>
            <a:ext cx="208483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912864" y="173736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cumulative ROI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12864" y="218541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agents to strategic OKRs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12864" y="26334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exec business review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12864" y="308152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9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renewal at expansion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03136" y="3630168"/>
            <a:ext cx="2084832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03136" y="36301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NRR &gt;120%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20040" y="40873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OKRs — Agentic AI Sales Programme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" y="4434840"/>
            <a:ext cx="2743200" cy="566928"/>
          </a:xfrm>
          <a:prstGeom prst="rect">
            <a:avLst/>
          </a:prstGeom>
          <a:solidFill>
            <a:srgbClr val="1A2744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9768" y="44714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O1: Win More with AI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29768" y="4718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 +15% by Q3  ·  Sales cycle -25% by Q2  ·  Pipeline coverage 4× by Q4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46120" y="4434840"/>
            <a:ext cx="2743200" cy="566928"/>
          </a:xfrm>
          <a:prstGeom prst="rect">
            <a:avLst/>
          </a:prstGeom>
          <a:solidFill>
            <a:srgbClr val="1A2744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55848" y="44714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O2: Retain &amp; Expand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355848" y="4718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&lt;8% annualised  ·  NRR &gt;115% by year end  ·  CS agent handles 500 accounts/rep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72200" y="4434840"/>
            <a:ext cx="2743200" cy="566928"/>
          </a:xfrm>
          <a:prstGeom prst="rect">
            <a:avLst/>
          </a:prstGeom>
          <a:solidFill>
            <a:srgbClr val="1A274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81928" y="44714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O3: Operate Efficiently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281928" y="4718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down 20% by Q3  ·  Rep ramp &lt;8 weeks by Q4  ·  Forecast accuracy &gt;80%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ADVANTAGE  —  BLUE OCEAN × ANSOFF × PORTER'S VALUE CHAIN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8696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Ocean — Where Agents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Uncontested Advantage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572768"/>
            <a:ext cx="1078992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572768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99032" y="1572768"/>
            <a:ext cx="294436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6824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outreach, CRM data entry, meeting notes, status updates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2395728"/>
            <a:ext cx="1078992" cy="65836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395728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399032" y="2395728"/>
            <a:ext cx="294436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25054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time, response latency, research hours, forecast errors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218688"/>
            <a:ext cx="1078992" cy="658368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218688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399032" y="3218688"/>
            <a:ext cx="294436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332841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Personalisation depth, account coverage, pipeline visibility, NPS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4041648"/>
            <a:ext cx="1078992" cy="65836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4041648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99032" y="4041648"/>
            <a:ext cx="294436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08760" y="415137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autonomous selling, real-time insight selling, predictive CS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63440" y="886968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Ansoff Matrix — Agent Growth Strategy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298448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298448"/>
            <a:ext cx="2011680" cy="73152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4081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189280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Agent-powered sales at scale in existing markets. Win more of what you already sell.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54880" y="26883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766560" y="1298448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4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66560" y="1298448"/>
            <a:ext cx="2011680" cy="73152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14081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189280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as new product/feature. Sell agent capabilities as premium tier.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858000" y="26883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RISK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63440" y="3127248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3127248"/>
            <a:ext cx="2011680" cy="7315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2369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54880" y="372160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new segments/geographies with agent cost structure that wasn't viable before.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54880" y="45171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RISK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766560" y="3127248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766560" y="3127248"/>
            <a:ext cx="2011680" cy="731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2369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58000" y="372160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entirely new agent-native business lines. Highest risk, highest reward.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858000" y="45171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PLAYBOOK  —  FAB · SNAP · REAL ANSWERS TO TOUGH QUESTIONS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869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Framework — How to Pitch Agents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43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548640" cy="10972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34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60120" y="1325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monitors all 500 accounts 24/7, analyses signals, and triggers outreach automatically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743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234440"/>
            <a:ext cx="548640" cy="109728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234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46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886200" y="1325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goes dark. Every risk signal caught within hours, not days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72200" y="1234440"/>
            <a:ext cx="2743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234440"/>
            <a:ext cx="548640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234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1722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812280" y="1325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CS team retains 15% more revenue — without hiring a single new headcount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" y="245059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Objections — How to Handle with SNAP &amp; NEAT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2788920"/>
            <a:ext cx="8503920" cy="3200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3756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RESPONSE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92240" y="2834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3108960"/>
            <a:ext cx="8503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163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not ready / it's too early"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337560" y="3163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competitors already have agents in production. Early = advantage. Late = catch-up.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92240" y="31638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month competitor lead if delayed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" y="3511296"/>
            <a:ext cx="8503920" cy="365760"/>
          </a:xfrm>
          <a:prstGeom prst="rect">
            <a:avLst/>
          </a:prstGeom>
          <a:solidFill>
            <a:srgbClr val="FFF8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566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will replace my team"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337560" y="356616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handle admin. Your people focus on strategy and relationships — higher value work.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92240" y="35661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capacity per rep = growth without headcount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3913632"/>
            <a:ext cx="8503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9684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can't trust the output"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337560" y="39684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gates on every high-risk action. You approve before it acts.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92240" y="396849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Gartner: governed agents outperform ungoverned by 3×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solidFill>
            <a:srgbClr val="FFF8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3708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 expensive"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7560" y="43708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hiring 3 SDRs. Agent works 24/7, never has a bad quarter, no benefits.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92240" y="43708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$80K SDR vs $15–30K/yr agent platform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" y="4718304"/>
            <a:ext cx="8503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7731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tried AI — it didn't work"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337560" y="47731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fail without governance. Start with one use case, one metric, 30 days.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492240" y="47731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deployers see ROI in 30 days (McKinsey)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30 / 60 / 90 DAY ACTION PLAN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88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88920" cy="68580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94183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88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16916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use case. Measure everything.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highest-pain manual workflow in sales or CS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agent in sandbox — 5 pilot users only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1480" y="2880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success metric upfront (time, revenue, CSAT)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3291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check-in: what worked, what didn't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3703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outcomes in language the CFO will love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84048" y="4133088"/>
            <a:ext cx="2587752" cy="640080"/>
          </a:xfrm>
          <a:prstGeom prst="rect">
            <a:avLst/>
          </a:prstGeom>
          <a:solidFill>
            <a:srgbClr val="FFF8F0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2062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ROI One-Pager ready for leadership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0" y="914400"/>
            <a:ext cx="2788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914400"/>
            <a:ext cx="2788920" cy="685800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94183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10128" y="1188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310128" y="16916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team. Prove stickiness.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37560" y="2057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to full sales or CS team (20–50 users)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3756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agent into existing tools (CRM, Slack, email)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37560" y="2880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2nd use case based on pilot learnings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37560" y="3291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internal enablement session — build champions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37560" y="3703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DORA-equivalent: adoption rate, active users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10128" y="4133088"/>
            <a:ext cx="2587752" cy="640080"/>
          </a:xfrm>
          <a:prstGeom prst="rect">
            <a:avLst/>
          </a:prstGeom>
          <a:solidFill>
            <a:srgbClr val="FFF8F0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42062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Champion network + expansion proposal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26480" y="914400"/>
            <a:ext cx="2788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914400"/>
            <a:ext cx="2788920" cy="685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36208" y="94183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36208" y="1188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With It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36208" y="16916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strategic. Lock in the advantage.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63640" y="2057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90-day ROI to executive sponsor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6364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agent programme to company OKRs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263640" y="2880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enterprise rollout + multi-year roadmap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63640" y="3291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internal innovation / transformation award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263640" y="3703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board: competitive advantage created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36208" y="4133088"/>
            <a:ext cx="2587752" cy="640080"/>
          </a:xfrm>
          <a:prstGeom prst="rect">
            <a:avLst/>
          </a:prstGeom>
          <a:solidFill>
            <a:srgbClr val="FFF8F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42062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Board-ready business case + multi-year plan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1371600" cy="5143500"/>
          </a:xfrm>
          <a:prstGeom prst="rect">
            <a:avLst/>
          </a:prstGeom>
          <a:solidFill>
            <a:srgbClr val="E8533A">
              <a:alpha val="20000"/>
            </a:srgbClr>
          </a:solidFill>
          <a:ln w="12700">
            <a:solidFill>
              <a:srgbClr val="E8533A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0"/>
            <a:ext cx="1828800" cy="5143500"/>
          </a:xfrm>
          <a:prstGeom prst="rect">
            <a:avLst/>
          </a:prstGeom>
          <a:solidFill>
            <a:srgbClr val="F4A623">
              <a:alpha val="15000"/>
            </a:srgbClr>
          </a:solidFill>
          <a:ln w="12700">
            <a:solidFill>
              <a:srgbClr val="F4A623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" y="0"/>
            <a:ext cx="54864" cy="5143500"/>
          </a:xfrm>
          <a:prstGeom prst="rect">
            <a:avLst/>
          </a:prstGeom>
          <a:solidFill>
            <a:srgbClr val="F4A623"/>
          </a:solidFill>
          <a:ln w="12700">
            <a:solidFill>
              <a:srgbClr val="F4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2296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companies winning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AI aren't waiting.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11480" y="22402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building the advantage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4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chasing next year.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11480" y="3291840"/>
            <a:ext cx="384048" cy="38404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33375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first agent use case — today, not next quarter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767328"/>
            <a:ext cx="384048" cy="38404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86968" y="38130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30-day ROI target your CFO will care about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4242816"/>
            <a:ext cx="384048" cy="38404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6968" y="428853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your internal champion and book the pilot kickoff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solidFill>
            <a:srgbClr val="E8533A"/>
          </a:solidFill>
          <a:ln w="12700">
            <a:solidFill>
              <a:srgbClr val="E853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81888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 ·  Discussion  ·  Let's Build Your Business Case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— The Revenue Opportunity</dc:title>
  <dc:subject>PptxGenJS Presentation</dc:subject>
  <dc:creator>PptxGenJS</dc:creator>
  <cp:lastModifiedBy>PptxGenJS</cp:lastModifiedBy>
  <cp:revision>1</cp:revision>
  <dcterms:created xsi:type="dcterms:W3CDTF">2026-04-11T06:08:25Z</dcterms:created>
  <dcterms:modified xsi:type="dcterms:W3CDTF">2026-04-11T06:08:25Z</dcterms:modified>
</cp:coreProperties>
</file>
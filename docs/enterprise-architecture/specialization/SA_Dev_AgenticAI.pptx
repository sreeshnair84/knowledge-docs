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53328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0256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87184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54112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21040" y="3657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53328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0256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87184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54112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1040" y="9601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0256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54112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5544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3328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20256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87184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54112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040" y="214884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0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53328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20256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87184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4112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274320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53328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20256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87184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54112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1040" y="333756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53328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0256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87184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54112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21040" y="393192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0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053328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20256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87184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54112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21040" y="4526280"/>
            <a:ext cx="64008" cy="64008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7472" y="1051560"/>
            <a:ext cx="2926080" cy="292608"/>
          </a:xfrm>
          <a:prstGeom prst="rect">
            <a:avLst/>
          </a:prstGeom>
          <a:solidFill>
            <a:srgbClr val="1A3A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7472" y="1051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 + DEV EDITION  |  2026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47472" y="1444752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Systems</a:t>
            </a:r>
            <a:endParaRPr lang="en-US" sz="4400" dirty="0"/>
          </a:p>
        </p:txBody>
      </p:sp>
      <p:sp>
        <p:nvSpPr>
          <p:cNvPr id="54" name="Text 52"/>
          <p:cNvSpPr/>
          <p:nvPr/>
        </p:nvSpPr>
        <p:spPr>
          <a:xfrm>
            <a:off x="347472" y="3182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Patterns · Code Blueprints · Engineering Standards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47472" y="3657600"/>
            <a:ext cx="3657600" cy="12344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7472" y="3657600"/>
            <a:ext cx="365760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8912" y="371246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3504" y="371246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8096" y="371246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" y="368503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agent_quickstart.py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484632" y="3913632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What we'll cover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llm=claude_sonnet,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tools=[search, sql, email],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memory=VectorStore(),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max_steps=15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agent.run(task)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572000" y="370332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0" y="370332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468112" y="370332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68112" y="370332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364224" y="370332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64224" y="370332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260336" y="370332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60336" y="370332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LangGraph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156448" y="370332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156448" y="370332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CQRS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4572000" y="411480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572000" y="411480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DORA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468112" y="411480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68112" y="411480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 LLM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6364224" y="411480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64224" y="411480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12-Factor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7260336" y="411480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260336" y="411480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Saga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8156448" y="4114800"/>
            <a:ext cx="841248" cy="29260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156448" y="411480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BFF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https://your-agentic-future.ai  |  branch: main  |  status: ✓ ready to build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IS AN AGENT? — THE DEVELOPER MENTAL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41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Anatomy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25296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25296"/>
            <a:ext cx="64008" cy="530352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618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Brain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4996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Reasons, plans, decides next action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847088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847088"/>
            <a:ext cx="64008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836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Registry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21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search(), sql_query(), send_email(), call_api()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468880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68880"/>
            <a:ext cx="64008" cy="530352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 Store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Short-term (context window) + Long-term (vector DB)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3090672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90672"/>
            <a:ext cx="64008" cy="53035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272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Planner / Orchestrator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Breaks task into steps; manages ReAct loop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3712464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712464"/>
            <a:ext cx="64008" cy="530352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49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986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Input/output validation, rate limits, human gates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4334256"/>
            <a:ext cx="3931920" cy="530352"/>
          </a:xfrm>
          <a:prstGeom prst="rect">
            <a:avLst/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4334256"/>
            <a:ext cx="64008" cy="53035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3708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6085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Traces, spans, token usage, action audit log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8412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 Loop — Core Agent Pattern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26280" y="1188720"/>
            <a:ext cx="4297680" cy="27889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26280" y="1188720"/>
            <a:ext cx="429768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7720" y="124358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82312" y="124358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6904" y="124358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17720" y="12161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react_loop.py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663440" y="1444752"/>
            <a:ext cx="4069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not task_complete: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thought = llm.think(task, history)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ACT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thought.needs_tool: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 = registry.get(thought.tool)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tool.call(thought.args)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history.append(result)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OBSERVE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elif thought.is_final: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thought.answer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GUARD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steps &gt; MAX_STEPS: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escalate_to_human()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26280" y="4069080"/>
            <a:ext cx="4297680" cy="868680"/>
          </a:xfrm>
          <a:prstGeom prst="rect">
            <a:avLst/>
          </a:prstGeom>
          <a:solidFill>
            <a:srgbClr val="1A3A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4133088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Key insight: 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not a chatbot with tools. It's a </a:t>
            </a:r>
            <a:pPr indent="0" marL="0">
              <a:buNone/>
            </a:pPr>
            <a:r>
              <a:rPr lang="en-US" sz="10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loop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uses an LLM as its reasoning engine. The LLM is one component — not the system.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CORE PATTERNS FOR SOLUTION ARCHITECTS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99339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4160520" cy="310896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05256"/>
            <a:ext cx="3977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Orchestrator–Specialist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" y="12344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master agent routes tasks to domain specialists. Orchestrator never executes — only delegates.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4048" y="194767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</a:t>
            </a:r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Multi-domain workflows (finance + legal + ops in one task)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1216152"/>
            <a:ext cx="1993392" cy="155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1216152"/>
            <a:ext cx="1993392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23160" y="1271016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7752" y="1271016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52344" y="1271016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1472184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 = OrchestratorAgent(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specialists={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"finance": FinanceAgent(),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"legal": LegalAgent(),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"ops": OpsAgent()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754880" y="868680"/>
            <a:ext cx="4160520" cy="199339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868680"/>
            <a:ext cx="4160520" cy="310896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905256"/>
            <a:ext cx="3977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RAG Pipeline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64608" y="12344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agent fetches relevant enterprise context before acting. Kills hallucination.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864608" y="194767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9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</a:t>
            </a:r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needing current/private data (policy docs, prices, contracts)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12280" y="1216152"/>
            <a:ext cx="1993392" cy="155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216152"/>
            <a:ext cx="1993392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1271016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68312" y="1271016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32904" y="1271016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1472184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agent_query(question):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Embed + retrieve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chunks = vector_db.search(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embed(question), top_k=5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context = format_chunks(chunks)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llm.answer(question, context)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2990088"/>
            <a:ext cx="4160520" cy="199339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2990088"/>
            <a:ext cx="4160520" cy="310896"/>
          </a:xfrm>
          <a:prstGeom prst="rect">
            <a:avLst/>
          </a:prstGeom>
          <a:solidFill>
            <a:srgbClr val="1C2128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4048" y="3026664"/>
            <a:ext cx="3977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Saga / Compensating Tx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" y="33558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step publishes an event. On failure, compensating actions roll back prior steps across services.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84048" y="4069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</a:t>
            </a:r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agents touching financial, inventory, or legal systems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331720" y="3337560"/>
            <a:ext cx="1993392" cy="155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31720" y="3337560"/>
            <a:ext cx="1993392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3160" y="339242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87752" y="339242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52344" y="339242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93592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@saga_step(compensate=cancel_order)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place_order(ctx):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= await payment.charge()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inventory.reserve()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notify.send()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order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754880" y="2990088"/>
            <a:ext cx="4160520" cy="199339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0" y="2990088"/>
            <a:ext cx="4160520" cy="310896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026664"/>
            <a:ext cx="3977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Human-in-the-Loop Gate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64608" y="335584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pauses at high-risk nodes and waits for human approval before proceeding. Not a limitation — a design choice.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864608" y="4069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</a:t>
            </a:r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irreversible action: financial transfers, legal filings, bulk comms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812280" y="3337560"/>
            <a:ext cx="1993392" cy="155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12280" y="3337560"/>
            <a:ext cx="1993392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339242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068312" y="339242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32904" y="339242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3593592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execute_action(action):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action.risk_score &gt; 0.7: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 = await human_gate(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action, timeout=3600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approval.granted: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raise ActionDenied()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await action.execute()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LAYER — RAG PIPELINE + AGENT MEMORY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Architecture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08760" y="13533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09928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09928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(text→vector)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944368" y="13533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45536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45536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 DB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79976" y="13533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81144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81144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Top-K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815584" y="13533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16752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6752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251192" y="13533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52360" y="1170432"/>
            <a:ext cx="1261872" cy="658368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117043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200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CQRS + Event Sourcing for Agent Actions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2331720"/>
            <a:ext cx="484632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331720"/>
            <a:ext cx="484632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238658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6072" y="238658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0664" y="238658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235915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agent_cqrs.py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2587752"/>
            <a:ext cx="4617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COMMAND side — agent writes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AgentCommandBus: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execute(self, cmd: AgentCommand):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 = domain.handle(cmd)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event_store.append(event)   # immutable log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read_model.project(event)   # update query side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QUERY side — agent reads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AgentQueryBus: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query(self, q: AgentQuery):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read_model.fetch(q)  # fast, denormalised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Result: full audit trail of every agent action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349240" y="8229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 Architecture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349240" y="1170432"/>
            <a:ext cx="352044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349240" y="1170432"/>
            <a:ext cx="3520440" cy="731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68112" y="1261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In-Context Memory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68112" y="149047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context window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68112" y="169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conversation, tool results, recent steps. Lost when session ends.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349240" y="2130552"/>
            <a:ext cx="352044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2130552"/>
            <a:ext cx="3520440" cy="73152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68112" y="22219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Short-Term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68112" y="245059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 / Memcache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468112" y="26517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state shared across agent instances. Survives restarts.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49240" y="3090672"/>
            <a:ext cx="352044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349240" y="3090672"/>
            <a:ext cx="3520440" cy="73152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68112" y="31821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Long-Term Semantic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68112" y="341071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Pinecone / pgvector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468112" y="3611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memories retrieved by semantic similarity for cross-session recall.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349240" y="4050792"/>
            <a:ext cx="352044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349240" y="4050792"/>
            <a:ext cx="3520440" cy="73152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68112" y="41422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Episodic / Procedural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68112" y="4370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/ MongoDB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468112" y="4572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task outcomes, learned preferences, workflow templates agent reuses.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SECURITY — OWASP LLM TOP 10 + DEFENCE PATTERNS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5039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FF7B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749040" y="923544"/>
            <a:ext cx="594360" cy="228600"/>
          </a:xfrm>
          <a:prstGeom prst="rect">
            <a:avLst/>
          </a:prstGeom>
          <a:solidFill>
            <a:srgbClr val="FF7B72"/>
          </a:solidFill>
          <a:ln w="12700">
            <a:solidFill>
              <a:srgbClr val="FF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92354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84048" y="914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24128" y="914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Injection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119786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input hijacks agent goals via tool calls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sanitization, separate system/user context, output parsing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0" y="85039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FF7B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923544"/>
            <a:ext cx="594360" cy="228600"/>
          </a:xfrm>
          <a:prstGeom prst="rect">
            <a:avLst/>
          </a:prstGeom>
          <a:solidFill>
            <a:srgbClr val="FF7B72"/>
          </a:solidFill>
          <a:ln w="12700">
            <a:solidFill>
              <a:srgbClr val="FF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92354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64608" y="914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04688" y="914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Insecure Output Handling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119786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output executed without validation (XSS, SQL, RCE)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64608" y="15819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schema validation, deny-list dangerous patterns, sandbox exec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226771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49040" y="2340864"/>
            <a:ext cx="594360" cy="228600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0" y="234086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048" y="23317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24128" y="233172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Training Data Poisoning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4048" y="261518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 inherits backdoors from poisoned training data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4048" y="2999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provenance tracking, red-team fine-tuned models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226771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29600" y="2340864"/>
            <a:ext cx="594360" cy="228600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0" y="234086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64608" y="23317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LLM06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504688" y="233172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Excessive Agency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64608" y="261518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granted too many permissions; acts beyond intended scope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64608" y="2999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tools, scope tokens per task, max_steps guard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368503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749040" y="3758184"/>
            <a:ext cx="594360" cy="22860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49040" y="375818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84048" y="374904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LLM07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4128" y="37490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 Leakage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" y="403250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Adversary extracts confidential system prompt via jailbreak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84048" y="4416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system prompt; use env vars + vault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3685032"/>
            <a:ext cx="4206240" cy="128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229600" y="3758184"/>
            <a:ext cx="594360" cy="228600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0" y="375818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64608" y="374904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LLM08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504688" y="37490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 Store Poisoning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64608" y="403250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injects malicious docs into RAG knowledge base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64608" y="4416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FIX: </a:t>
            </a:r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ingestion auth, chunk-level ACL, retrieval monitoring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API DESIGN — MCP · TOOL CALLING · BFF PATTERN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Model Context Protocol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USB-C standard for agent tools.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any agent to any data source via one protocol.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1673352"/>
            <a:ext cx="4069080" cy="281635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673352"/>
            <a:ext cx="406908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728216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728216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" y="1728216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mcp_server.py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57200" y="1929384"/>
            <a:ext cx="3840480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MCP Server (exposes tools to agents)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@mcp_server.tool()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query_database(sql: str) -&gt; dict: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"""Execute SQL and return results"""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db.execute(sql).fetchall()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@mcp_server.resource()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get_schema() -&gt; str: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"""Returns live DB schema for context"""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db.get_schema()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 connects via standard protocol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Agent(mcp_servers=[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"https://db.mcp.company.com/mcp"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63440" y="8229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/ Tool Calling Schema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4160520" cy="27432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188720"/>
            <a:ext cx="416052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24358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19472" y="124358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84064" y="124358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216152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tool_schema.json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800600" y="1444752"/>
            <a:ext cx="39319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Tool definition (sent to LLM)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"search_crm",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"description": "Search CRM for customer data",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"input_schema": 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"object",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"properties": 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"query": 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"string",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"description": "Customer name or ID"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"limit": { "type": "integer" }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"required": ["query"]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0040" y="4608576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BFF — Backend for Frontend (Agent Edition)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4892040"/>
            <a:ext cx="8503920" cy="146304"/>
          </a:xfrm>
          <a:prstGeom prst="rect">
            <a:avLst/>
          </a:prstGeom>
          <a:solidFill>
            <a:srgbClr val="1A2A3A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910328"/>
            <a:ext cx="8321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separate Agent API layer that aggregates, filters, and contextualises data specifically for agent consumption — not the same API your UI uses. Agents need richer context, not REST CRUD.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12-FACTOR APP — ADAPTED FOR AGENT SYSTEMS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I. Codebase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codebase, multiple deployed instances. No snowflake agents.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450592" y="868680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50592" y="868680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42032" y="914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II. Dependencies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42032" y="12527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LLM model versions. Treat model as dependency, not a service.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26864" y="868680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26864" y="868680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8304" y="914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III. Config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18304" y="12527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model IDs, max_tokens in env vars. Never in system prompt.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03136" y="868680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868680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94576" y="914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IV. Backing Services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94576" y="12527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DB, memory store, tool APIs — all attached resources.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258568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258568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V. Build/Release/Run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264261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agent prompt engineering from deployment pipeline.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450592" y="2258568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450592" y="2258568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42032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VI. Processes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42032" y="264261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stateless per step. State lives in memory store only.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26864" y="2258568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26864" y="2258568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18304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VII. Port Binding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718304" y="264261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 exposed via HTTP/MCP — not embedded in app.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803136" y="2258568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03136" y="2258568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4576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VIII. Concurrency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894576" y="264261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horizontally: spawn 50 specialist agents, not 1 large one.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3648456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3648456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6941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IX. Disposability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5760" y="403250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crash-safe: idempotent steps, Saga rollback on failure.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450592" y="3648456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450592" y="3648456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6941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 Dev/Prod Parity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542032" y="403250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in dev and prod. Eval harness mirrors prod tool set.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26864" y="3648456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26864" y="3648456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36941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XI. Logs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718304" y="403250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structured traces: thought, action, tool, result per step.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803136" y="3648456"/>
            <a:ext cx="2057400" cy="126187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803136" y="3648456"/>
            <a:ext cx="2057400" cy="320040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36941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XII. Admin Processes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894576" y="403250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runs, prompt migrations, vector DB reindex as one-off tasks.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TESTING + OBSERVABILITY — DORA · SRE GOLDEN SIGNALS · EVALS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 — Agent CI/CD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06908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25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Frequency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1225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 (Elite)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you ship new agent prompts / tools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901952"/>
            <a:ext cx="406908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9385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 Time for Changes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4640" y="19385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 hour (Elite)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change → eval pass → prod deployment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2615184"/>
            <a:ext cx="406908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651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Failure Rate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5% (Elite)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94436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agent releases causing regressions in eval suite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3328416"/>
            <a:ext cx="406908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FF7B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3364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MTTR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4640" y="33649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 hour (Elite)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detect + rollback a bad agent model/prompt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8229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Golden Signals for Agent Systems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188720"/>
            <a:ext cx="416052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188720"/>
            <a:ext cx="64008" cy="62179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2344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1517904"/>
            <a:ext cx="3886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agent step duration; time-to-first-token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1901952"/>
            <a:ext cx="416052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901952"/>
            <a:ext cx="64008" cy="621792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19476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Traffic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2231136"/>
            <a:ext cx="3886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invocations/min; tool calls/step; tokens/request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2615184"/>
            <a:ext cx="416052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FF7B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2615184"/>
            <a:ext cx="64008" cy="621792"/>
          </a:xfrm>
          <a:prstGeom prst="rect">
            <a:avLst/>
          </a:prstGeom>
          <a:solidFill>
            <a:srgbClr val="FF7B72"/>
          </a:solidFill>
          <a:ln w="12700">
            <a:solidFill>
              <a:srgbClr val="FF7B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6609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86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failures, hallucination rate, human escalation %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328416"/>
            <a:ext cx="4160520" cy="621792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328416"/>
            <a:ext cx="64008" cy="621792"/>
          </a:xfrm>
          <a:prstGeom prst="rect">
            <a:avLst/>
          </a:prstGeom>
          <a:solidFill>
            <a:srgbClr val="F0883E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33741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Saturation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657600"/>
            <a:ext cx="3886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rate limit headroom; vector DB capacity; queue depth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0040" y="4160520"/>
            <a:ext cx="8503920" cy="822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4160520"/>
            <a:ext cx="850392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1480" y="421538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76072" y="421538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0664" y="421538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4187952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ci_eval.py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57200" y="4416552"/>
            <a:ext cx="8275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 Eval Suite (run in CI/CD)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eval_suite = AgentEvalSuite([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AccuracyEval(dataset=golden_set),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ToolUseEval(expected_tools),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LatencyEval(p95_budget=3000),  # ms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HallucinationEval(grounding=rag),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SafetyEval(policy=company_policy)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eval_suite.run(agent)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results.pass_rate &gt; 0.95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REFERENCE STACK — TECHNOLOGY + TOOLING CHOICES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5039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5039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869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/ Foundation Models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4048" y="119786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Sonnet 4 (Anthropic)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4048" y="13990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GPT-4o (OpenAI)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4048" y="16002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Llama 4 (Meta, open-weight)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4048" y="1801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2.0 (Google)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23160" y="117043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2344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 model version. Never use 'latest' in prod.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0" y="85039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85039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8869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Orchestration Frameworks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64608" y="119786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LangGraph (stateful, cyclical)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64608" y="13990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CrewAI (role-based multi-agent)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64608" y="16002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AutoGen (Microsoft, conversational)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864608" y="1801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Temporal (durable execution)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903720" y="117043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12344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LangGraph recommended for complex stateful flows.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" y="226771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79C0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26771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3042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Integration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" y="26151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(Model Context Protocol)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84048" y="28163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 Tools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84048" y="30175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Semantic Kernel (Microsoft)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84048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REST / gRPC tool wrappers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423160" y="258775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14600" y="26517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Standardise on MCP for new tools. Avoids framework lock-in.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226771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226771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23042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 &amp; Data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64608" y="26151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pgvector / Pinecone (vector)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64608" y="28163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 (short-term)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864608" y="30175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Weaviate / Qdrant (vector DB)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64608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(episodic / structured)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903720" y="258775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95160" y="26517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pgvector first — eliminate extra infra unless scale demands.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" y="368503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F088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74320" y="368503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F088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37216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84048" y="40325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LangSmith (LLM tracing)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84048" y="423367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Datadog AI Observability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84048" y="44348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Weights &amp; Biases (eval tracking)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4048" y="46360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 (spans + metrics)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423160" y="400507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14600" y="40690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 every agent step. No black-box agents in prod.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0" y="3685032"/>
            <a:ext cx="4206240" cy="1298448"/>
          </a:xfrm>
          <a:prstGeom prst="rect">
            <a:avLst/>
          </a:prstGeom>
          <a:solidFill>
            <a:srgbClr val="161B22"/>
          </a:solidFill>
          <a:ln w="12700">
            <a:solidFill>
              <a:srgbClr val="FF7B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54880" y="3685032"/>
            <a:ext cx="4206240" cy="292608"/>
          </a:xfrm>
          <a:prstGeom prst="rect">
            <a:avLst/>
          </a:prstGeom>
          <a:solidFill>
            <a:srgbClr val="1C2128"/>
          </a:solidFill>
          <a:ln w="12700">
            <a:solidFill>
              <a:srgbClr val="FF7B7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37216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&amp; Guardrails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864608" y="403250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NeMo Guardrails (NVIDIA)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864608" y="423367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 (LLM red-teaming)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864608" y="44348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Armour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864608" y="463600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OPA (Open Policy Agent)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903720" y="4005072"/>
            <a:ext cx="1938528" cy="896112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95160" y="406908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note
</a:t>
            </a:r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Garak against every agent before first production deploy.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AGENT PRODUCTION READINESS CHECKLIST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2057400" cy="34747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4124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written &amp; reviewed for all major decisions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920240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9933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diagram exists for agent system (L1–L3)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" y="2578608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651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layer assigned; change rate documented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236976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31012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Saga/rollback defined for all irreversible steps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450592" y="841248"/>
            <a:ext cx="2057400" cy="347472"/>
          </a:xfrm>
          <a:prstGeom prst="rect">
            <a:avLst/>
          </a:prstGeom>
          <a:solidFill>
            <a:srgbClr val="FF7B72"/>
          </a:solidFill>
          <a:ln w="12700">
            <a:solidFill>
              <a:srgbClr val="FF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84124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50592" y="1261872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133502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tested with Garak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50592" y="1920240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42032" y="19933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scopes assigned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50592" y="2578608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42032" y="2651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contains zero secrets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450592" y="3236976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42032" y="331012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audit log implemented (every step)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626864" y="841248"/>
            <a:ext cx="2057400" cy="347472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84124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26864" y="1261872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3502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9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grounding tested against golden dataset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26864" y="1920240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8304" y="19933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9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 has ingestion auth &amp; ACL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26864" y="2578608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2651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9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TTL configured per data class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626864" y="3236976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18304" y="331012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9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CQRS event store persists all agent commands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03136" y="841248"/>
            <a:ext cx="2057400" cy="34747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03136" y="84124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803136" y="1261872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4576" y="133502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suite in CI/CD (pass_rate &gt; 95%)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803136" y="1920240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94576" y="19933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baseline established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803136" y="2578608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4576" y="2651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golden signals dashboarded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803136" y="3236976"/>
            <a:ext cx="2057400" cy="56692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331012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 guard + human escalation implemented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63440"/>
            <a:ext cx="8641080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4320" y="4663440"/>
            <a:ext cx="8641080" cy="201168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5760" y="4718304"/>
            <a:ext cx="91440" cy="9144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30352" y="4718304"/>
            <a:ext cx="91440" cy="9144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4944" y="4718304"/>
            <a:ext cx="91440" cy="9144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919472"/>
            <a:ext cx="8412480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Your mission: ship agents that are observable, reversible, and trustworthy.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"Any sufficiently advanced AI agent is indistinguishable from a microservice... until it isn't." — Unknown SA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Agentic AI Systems</dc:title>
  <dc:subject>PptxGenJS Presentation</dc:subject>
  <dc:creator>PptxGenJS</dc:creator>
  <cp:lastModifiedBy>PptxGenJS</cp:lastModifiedBy>
  <cp:revision>1</cp:revision>
  <dcterms:created xsi:type="dcterms:W3CDTF">2026-04-11T05:09:30Z</dcterms:created>
  <dcterms:modified xsi:type="dcterms:W3CDTF">2026-04-11T05:09:30Z</dcterms:modified>
</cp:coreProperties>
</file>
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438912" cy="514350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438912" cy="5143500"/>
          </a:xfrm>
          <a:prstGeom prst="rect">
            <a:avLst/>
          </a:prstGeom>
          <a:solidFill>
            <a:srgbClr val="028090">
              <a:alpha val="10500"/>
            </a:srgbClr>
          </a:solidFill>
          <a:ln w="12700">
            <a:solidFill>
              <a:srgbClr val="028090">
                <a:alpha val="105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438912" cy="5143500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438912" cy="5143500"/>
          </a:xfrm>
          <a:prstGeom prst="rect">
            <a:avLst/>
          </a:prstGeom>
          <a:solidFill>
            <a:srgbClr val="028090">
              <a:alpha val="7500"/>
            </a:srgbClr>
          </a:solidFill>
          <a:ln w="12700">
            <a:solidFill>
              <a:srgbClr val="028090">
                <a:alpha val="75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0"/>
            <a:ext cx="438912" cy="5143500"/>
          </a:xfrm>
          <a:prstGeom prst="rect">
            <a:avLst/>
          </a:prstGeom>
          <a:solidFill>
            <a:srgbClr val="028090">
              <a:alpha val="6000"/>
            </a:srgbClr>
          </a:solidFill>
          <a:ln w="12700">
            <a:solidFill>
              <a:srgbClr val="028090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0"/>
            <a:ext cx="438912" cy="5143500"/>
          </a:xfrm>
          <a:prstGeom prst="rect">
            <a:avLst/>
          </a:prstGeom>
          <a:solidFill>
            <a:srgbClr val="028090">
              <a:alpha val="4500"/>
            </a:srgbClr>
          </a:solidFill>
          <a:ln w="12700">
            <a:solidFill>
              <a:srgbClr val="028090">
                <a:alpha val="45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371600"/>
            <a:ext cx="2743200" cy="18288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743200"/>
            <a:ext cx="2743200" cy="18288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4114800"/>
            <a:ext cx="2743200" cy="18288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88720"/>
            <a:ext cx="25603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COMMUNITY  |  2026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62763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EA Lens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Patterns &amp; Architecture Decisions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Autonomous Agent Era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 ·  ArchiMate  ·  C4  ·  SABSA  ·  PACE  ·  ADR  ·  VPEC-T  ·  ATAM  ·  DORA  ·  COBIT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AI IS AN EA PROBLEM — NOT JUST AN IT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1C2B3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Shift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Systems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76272" y="1554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87168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Goal-Directed Agents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3474720" cy="914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762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Integration Points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76272" y="217627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87168" y="21762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Tool-Calling APIs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706624"/>
            <a:ext cx="3474720" cy="914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Human-Executed Workflows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76272" y="279806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87168" y="27980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Agent-Orchestrated Pipelines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28416"/>
            <a:ext cx="3474720" cy="914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198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 Architecture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76272" y="341985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87168" y="34198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Context &amp; Memory Stores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3474720" cy="914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41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Governance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76272" y="404164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87168" y="4041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Agent Oversight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Domains Directly Impacted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417320"/>
            <a:ext cx="73152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53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1728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maps must reflect silicon-workforce; value streams redesigned for agent autonomy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12140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21408"/>
            <a:ext cx="73152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agents replace monolithic apps; orchestration layers become first-class citizens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82549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825496"/>
            <a:ext cx="73152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136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 give way to knowledge graphs, vector stores, and real-time RAG pipelines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352958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529584"/>
            <a:ext cx="73152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protocols, agent runtimes, and orchestration platforms join the reference architecture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42336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4233672"/>
            <a:ext cx="73152" cy="6217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4544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privilege escalation, and agent identity become SABSA-level concerns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ADM  —  INTEGRATING AGENTIC AI INTO THE ARCHITECTURE 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Prelim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Agentic AI Question: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 capabilities do we need for agent oversight?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35808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A: Vision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Agentic AI Question: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10128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agentic target state &amp; business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16168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9144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14400"/>
            <a:ext cx="27432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B: Business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Agentic AI Question: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90488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capabilities &amp; value streams with agent roles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27432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C: 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310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Agentic AI Question: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+ Data architecture for agent memory &amp; context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35808" y="3337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834640"/>
            <a:ext cx="274320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D: Tech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3310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Agentic AI Question: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runtimes, MCP servers, orchestration platforms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16168" y="3337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80760" y="28346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A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2834640"/>
            <a:ext cx="2743200" cy="384048"/>
          </a:xfrm>
          <a:prstGeom prst="rect">
            <a:avLst/>
          </a:prstGeom>
          <a:solidFill>
            <a:srgbClr val="6C63AC"/>
          </a:solidFill>
          <a:ln w="12700">
            <a:solidFill>
              <a:srgbClr val="6C63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E–H: Gov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0488" y="3310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Agentic AI Question: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gates, ADRs, migration planning &amp; change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artifact additions: Agent Capability Register  ·  Agent Interaction Diagram  ·  Silicon Workforce RACI  ·  Agent Risk Register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  —  C4 MODEL FOR MULTI-AGENT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Levels for Agentic 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3840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Context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↔ Agent Platform ↔ External APIs / Users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76272"/>
            <a:ext cx="32918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860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Containers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514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Specialist Agents · Tool Registry · Memory Store · API Gateway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99923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999232"/>
            <a:ext cx="27432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108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Components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8408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· Executor · Validator · Feedback Loop · Prompt Manager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3822192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43000" y="3822192"/>
            <a:ext cx="219456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52728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 · Tool functions · State machines · Retry logic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91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Patterns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35331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53312"/>
            <a:ext cx="73152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Orchestrator–Specialist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16733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'puppeteer' delegates to domain agents. Maps to ArchiMate Collaboration element.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05740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057400"/>
            <a:ext cx="73152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3774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agent queries knowledge graph before acting. Replaces ETL.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76148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761488"/>
            <a:ext cx="73152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98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0815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checkpoint at high-risk decision nodes. Modelled as BPMN User Task.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4655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465576"/>
            <a:ext cx="73152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Agent Trigger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7856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subscribe to enterprise event bus (Kafka/EventBridge). Use EIP Message Channel.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416966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4169664"/>
            <a:ext cx="73152" cy="6217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/ Compensating Transaction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44897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rollback across multi-agent workflow. Critical for financial/legal agents.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LAYERING  —  WHERE DO AGENTS FIT IN YOUR PORTFOLIO?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3931920"/>
          </a:xfrm>
          <a:prstGeom prst="rect">
            <a:avLst/>
          </a:prstGeom>
          <a:solidFill>
            <a:srgbClr val="0F1E28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88920" cy="45720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Years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READ-ONLY consumers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350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agent adaptors (read-only)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data access via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172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 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4160520"/>
            <a:ext cx="2587752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HIGH — agents must not write directly to SOR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914400"/>
            <a:ext cx="2788920" cy="3931920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14400"/>
            <a:ext cx="2788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Differentiation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118872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Months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14813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5848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WORKFLOW EXECUTORS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350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autonomous follow-up 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decision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3172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screening &amp; scheduling agents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55848" y="4160520"/>
            <a:ext cx="2587752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MEDIUM — human gates at key steps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914400"/>
            <a:ext cx="2788920" cy="3931920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914400"/>
            <a:ext cx="2788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Innovation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118872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Weeks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81928" y="14813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81928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BUILDERS &amp; EXPERIMENTERS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81928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81928" y="2350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agents (CI/CD integrated)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27614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 discovery agents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81928" y="31729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agents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81928" y="4160520"/>
            <a:ext cx="2587752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LOW — sandboxed; fast iteration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 —  FROM ETL PIPELINES TO AGENT-READY DATA FABRIC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(Traditional EA Data Model)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36576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Source Systems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0" y="175564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36576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ETL / Batch Pipelines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30428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36576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Warehouse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0" y="285292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36576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BI / Reports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340156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93008"/>
            <a:ext cx="36576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Human Decision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(Agent-Ready Data Fabric)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298448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350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EventBridge — agents subscribe to business events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9568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956816"/>
            <a:ext cx="7315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9933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relationships agents traverse for decision-making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615184"/>
            <a:ext cx="7315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6517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(Embeddings)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2926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for RAG pipelines — agent long-term memory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2735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73552"/>
            <a:ext cx="73152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101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Store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35844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read layer — agents query current state, not batch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9319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A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931920"/>
            <a:ext cx="73152" cy="566928"/>
          </a:xfrm>
          <a:prstGeom prst="rect">
            <a:avLst/>
          </a:prstGeom>
          <a:solidFill>
            <a:srgbClr val="6C63AC"/>
          </a:solidFill>
          <a:ln w="12700">
            <a:solidFill>
              <a:srgbClr val="6C63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9684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Layer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4242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(session) + long-term (persistent) agent context store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E8F4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Architecture Principle: Agents must never be the source of truth — they are consumers of a governed, observable data fabric.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 —  SABSA + ZERO TRUST FOR AUTONOMOUS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SABSA Layers — Agent Security 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73152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624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risk: What can agents be allowed to decide?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3794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84248"/>
            <a:ext cx="73152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020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22860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policy: Trust levels, data classification for agents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64261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42616"/>
            <a:ext cx="73152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79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944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model: Agent identity, RBAC/ABAC for tools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300984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300984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337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6027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Sandboxing, network segmentation, API rate limiting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" y="3959352"/>
            <a:ext cx="3383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3959352"/>
            <a:ext cx="7315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995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4261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defence, output validation, audit logging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Principles for Agents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4160520" cy="566928"/>
          </a:xfrm>
          <a:prstGeom prst="rect">
            <a:avLst/>
          </a:prstGeom>
          <a:solidFill>
            <a:srgbClr val="1C2B36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362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16367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API call requires JWT token + capability scope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984248"/>
            <a:ext cx="4160520" cy="566928"/>
          </a:xfrm>
          <a:prstGeom prst="rect">
            <a:avLst/>
          </a:prstGeom>
          <a:solidFill>
            <a:srgbClr val="1C2B36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2020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2951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granted minimum tool access; no standing permissions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642616"/>
            <a:ext cx="4160520" cy="566928"/>
          </a:xfrm>
          <a:prstGeom prst="rect">
            <a:avLst/>
          </a:prstGeom>
          <a:solidFill>
            <a:srgbClr val="1C2B36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26791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953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actions logged, observable, and reversible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364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Threat Vectors EA Must Address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730752"/>
            <a:ext cx="2011680" cy="475488"/>
          </a:xfrm>
          <a:prstGeom prst="rect">
            <a:avLst/>
          </a:prstGeom>
          <a:solidFill>
            <a:srgbClr val="FFF3F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758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input hijacks agent goals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66560" y="3730752"/>
            <a:ext cx="2011680" cy="475488"/>
          </a:xfrm>
          <a:prstGeom prst="rect">
            <a:avLst/>
          </a:prstGeom>
          <a:solidFill>
            <a:srgbClr val="FFF3F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758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exploits over-privileged API scope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4297680"/>
            <a:ext cx="2011680" cy="475488"/>
          </a:xfrm>
          <a:prstGeom prst="rect">
            <a:avLst/>
          </a:prstGeom>
          <a:solidFill>
            <a:srgbClr val="FFF3F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325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Impersonation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agents posing as trusted system agents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66560" y="4297680"/>
            <a:ext cx="2011680" cy="475488"/>
          </a:xfrm>
          <a:prstGeom prst="rect">
            <a:avLst/>
          </a:prstGeom>
          <a:solidFill>
            <a:srgbClr val="FFF3F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4325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Corrupting the agent's long-term context store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  —  COBIT + ADR FOR AGENT OVERSIGHT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Governance Domains → Agent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73152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53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— Evaluate, Direct, Monitor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policy on autonomous agent risk appetite and accountability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73152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 — Align, Plan, Organise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295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strategy alignment with enterprise OKRs; silicon-workforce planning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60904"/>
            <a:ext cx="73152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883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 — Build, Acquire, Implement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962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deployment gates; pilot validation; architecture compliance checks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28416"/>
            <a:ext cx="73152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3558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— Deliver, Service, Support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630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observability, SLA monitoring, incident response for autonomous actions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995928"/>
            <a:ext cx="4023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95928"/>
            <a:ext cx="73152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023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— Monitor, Evaluate, Assure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audit trails, explainability reports, regulatory evidence packages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 — Agent ADR Template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624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1362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ADR-042: Orchestration Layer Selection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1801368"/>
            <a:ext cx="4160520" cy="402336"/>
          </a:xfrm>
          <a:prstGeom prst="rect">
            <a:avLst/>
          </a:prstGeom>
          <a:solidFill>
            <a:srgbClr val="F7FA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379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06440" y="18379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| Accepted | Superseded | Deprecated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276856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3134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06440" y="2313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framework to coordinate 8+ specialist agents in our finance domain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752344"/>
            <a:ext cx="4160520" cy="402336"/>
          </a:xfrm>
          <a:prstGeom prst="rect">
            <a:avLst/>
          </a:prstGeom>
          <a:solidFill>
            <a:srgbClr val="F7FA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LangGraph for stateful multi-agent orchestration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227832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264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3264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cyclical graphs; native human-in-loop; production-proven at scale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703320"/>
            <a:ext cx="4160520" cy="402336"/>
          </a:xfrm>
          <a:prstGeom prst="rect">
            <a:avLst/>
          </a:prstGeom>
          <a:solidFill>
            <a:srgbClr val="F7FA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7398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06440" y="3739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ecosystem lock-in; team upskilling required; vendor risk noted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4178808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215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06440" y="4215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against TOGAF ADM Phase D; COBIT BAI03 gate passed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CAPABILITY MAP  —  WHAT YOUR TEAM MUST BUILD / BUY / GOVERN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08483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41832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4264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96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Target Architecture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1122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854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Roadmap (Agent-Aware)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7980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712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Layer Assignment for Agents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34838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570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Reference Architecture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41696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428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Runway Planning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32304" y="914400"/>
            <a:ext cx="2084832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941832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INTEGRATE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32304" y="14264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4996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 (LangGraph / CrewAI)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32304" y="21122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1854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&amp; API Catalogue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32304" y="27980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28712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 Layer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32304" y="34838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35570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Store Design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32304" y="41696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42428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Architecture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08576" y="914400"/>
            <a:ext cx="2084832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941832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 SECURE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08576" y="14264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4996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&amp; Access Model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08576" y="21122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1854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 Patterns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08576" y="27980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8712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Audit Trail Standard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08576" y="34838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5570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Library (Agent-Specific)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08576" y="41696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42428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Compliance Mapping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84848" y="914400"/>
            <a:ext cx="208483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941832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EVOLVE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84848" y="14264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14996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for Agent Pipelines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84848" y="21122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21854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Observability Framework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84848" y="27980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8712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Measurement Model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84848" y="34838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5570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Health Dashboard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784848" y="4169664"/>
            <a:ext cx="2084832" cy="594360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24281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Skills Upskilling Plan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PRACTITIONER TOOLKIT  —  SKILLS, TOOLS &amp; COMMUNITY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Develop — EA Role Evolution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Patterns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1417320"/>
            <a:ext cx="210312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417320"/>
            <a:ext cx="17876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1808" y="1399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LLM/RAG System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947672"/>
            <a:ext cx="210312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947672"/>
            <a:ext cx="147218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9293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4323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Security (SABSA extension)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2478024"/>
            <a:ext cx="210312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2478024"/>
            <a:ext cx="157734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2459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962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ArchiMate 3.x Agent Modelling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3008376"/>
            <a:ext cx="210312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3008376"/>
            <a:ext cx="1261872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2990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Fabric &amp; Vector Store Design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538728"/>
            <a:ext cx="210312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3538728"/>
            <a:ext cx="1367028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ADR Authoring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4069080"/>
            <a:ext cx="210312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4069080"/>
            <a:ext cx="1682496" cy="274320"/>
          </a:xfrm>
          <a:prstGeom prst="rect">
            <a:avLst/>
          </a:prstGeom>
          <a:solidFill>
            <a:srgbClr val="6C63AC"/>
          </a:solidFill>
          <a:ln w="12700">
            <a:solidFill>
              <a:srgbClr val="6C63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40507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91440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Tooling for Agentic Architecture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132588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70448" y="1362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70448" y="15544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(ArchiMate)  ·  draw.io  ·  Structurizr (C4)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185623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70448" y="18928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70448" y="20848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CrewAI  ·  AutoGen  ·  Temporal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38658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870448" y="2423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70448" y="26151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 ·  OpenAI  ·  LangChain  ·  Semantic Kernel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2916936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70448" y="29535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70448" y="314553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 ·  Weights &amp; Biases  ·  Datadog 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0" y="344728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70448" y="34838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70448" y="36758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  ·  Atlan  ·  Apache Atlas  ·  OPA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60720" y="397764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70448" y="40142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70448" y="42062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(LLM testing)  ·  Prompt Armour  ·  NeMo Guardrails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solidFill>
            <a:srgbClr val="1C2B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268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Actions: ①  Create your first Agent ADR   ②  Run an ATAM for your agent architecture   ③  Map one business capability to a PACE layer   ④  Share findings with this EA community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FRAMEWORK QUICK REFERENCE  —  WHEN TO USE WHAT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2834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ADM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the full agentic architecture development cycle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New agent programme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938528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938528"/>
            <a:ext cx="28346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Zachman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322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all stakeholder views covered across agent landscape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6243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Programme initiation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" y="2962656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962656"/>
            <a:ext cx="28346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723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ArchiMate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agent collaboration, roles, and system interactions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648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Design phase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3986784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986784"/>
            <a:ext cx="283464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965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multi-agent system at four levels of detail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672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Solution architecture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27832" y="914400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6C63A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914400"/>
            <a:ext cx="2834640" cy="91440"/>
          </a:xfrm>
          <a:prstGeom prst="rect">
            <a:avLst/>
          </a:prstGeom>
          <a:solidFill>
            <a:srgbClr val="6C63AC"/>
          </a:solidFill>
          <a:ln w="12700">
            <a:solidFill>
              <a:srgbClr val="6C63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0241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Layering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3756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placement — where agents fit in change rate model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7560" y="16002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Portfolio review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27832" y="1938528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7832" y="1938528"/>
            <a:ext cx="283464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0482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SABSA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37560" y="2322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for autonomous agent trust model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37560" y="26243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Security review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27832" y="2962656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27832" y="2962656"/>
            <a:ext cx="283464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0723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37560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 overlay for agent deployments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3648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Governance gate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27832" y="3986784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27832" y="3986784"/>
            <a:ext cx="2834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0965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37560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and communicating architectural decisions on agents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37560" y="4672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Every key decision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99632" y="914400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99632" y="914400"/>
            <a:ext cx="28346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0241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0936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architecture trade-offs: latency vs safety vs cost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16002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Architecture review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99632" y="1938528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99632" y="1938528"/>
            <a:ext cx="28346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0482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VPEC-T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309360" y="2322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policies, events mapping for agent behaviour design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09360" y="26243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Business architecture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99632" y="2962656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99632" y="2962656"/>
            <a:ext cx="283464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30723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309360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deployment frequency and reliability of agent pipelines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9360" y="3648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Continuous delivery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34640" cy="896112"/>
          </a:xfrm>
          <a:prstGeom prst="rect">
            <a:avLst/>
          </a:prstGeom>
          <a:solidFill>
            <a:srgbClr val="0F1E28"/>
          </a:solidFill>
          <a:ln w="12700">
            <a:solidFill>
              <a:srgbClr val="6C63A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99632" y="3986784"/>
            <a:ext cx="2834640" cy="91440"/>
          </a:xfrm>
          <a:prstGeom prst="rect">
            <a:avLst/>
          </a:prstGeom>
          <a:solidFill>
            <a:srgbClr val="6C63AC"/>
          </a:solidFill>
          <a:ln w="12700">
            <a:solidFill>
              <a:srgbClr val="6C63A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0965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309360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data ownership model agents consume as products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09360" y="4672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Data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438912" cy="514350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38912" cy="5143500"/>
          </a:xfrm>
          <a:prstGeom prst="rect">
            <a:avLst/>
          </a:prstGeom>
          <a:solidFill>
            <a:srgbClr val="028090">
              <a:alpha val="10500"/>
            </a:srgbClr>
          </a:solidFill>
          <a:ln w="12700">
            <a:solidFill>
              <a:srgbClr val="028090">
                <a:alpha val="105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438912" cy="5143500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0"/>
            <a:ext cx="438912" cy="5143500"/>
          </a:xfrm>
          <a:prstGeom prst="rect">
            <a:avLst/>
          </a:prstGeom>
          <a:solidFill>
            <a:srgbClr val="028090">
              <a:alpha val="7500"/>
            </a:srgbClr>
          </a:solidFill>
          <a:ln w="12700">
            <a:solidFill>
              <a:srgbClr val="028090">
                <a:alpha val="75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0"/>
            <a:ext cx="438912" cy="5143500"/>
          </a:xfrm>
          <a:prstGeom prst="rect">
            <a:avLst/>
          </a:prstGeom>
          <a:solidFill>
            <a:srgbClr val="028090">
              <a:alpha val="6000"/>
            </a:srgbClr>
          </a:solidFill>
          <a:ln w="12700">
            <a:solidFill>
              <a:srgbClr val="028090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EA's Role in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Era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architect of trustworthy autonomy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gives agents a boundary, a purpose, and a governing principle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agentic systems are designed — not just prompted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Discussion  ·  Architecture Clinic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Through the EA Lens</dc:title>
  <dc:subject>PptxGenJS Presentation</dc:subject>
  <dc:creator>PptxGenJS</dc:creator>
  <cp:lastModifiedBy>PptxGenJS</cp:lastModifiedBy>
  <cp:revision>1</cp:revision>
  <dcterms:created xsi:type="dcterms:W3CDTF">2026-04-11T05:04:36Z</dcterms:created>
  <dcterms:modified xsi:type="dcterms:W3CDTF">2026-04-11T05:04:36Z</dcterms:modified>
</cp:coreProperties>
</file>
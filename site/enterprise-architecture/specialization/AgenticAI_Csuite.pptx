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73152" cy="21945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|  APRIL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Imperative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Opportunities &amp; Strategic Roadmap for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—  FOR C-SUITE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UP FRONT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no longer a pilot — it's a production reality.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that delay are already falling behind.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8D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560320"/>
            <a:ext cx="265176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apps will embed AI agents by end of 2026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25603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8D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560320"/>
            <a:ext cx="265176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33756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already have AI agents in production today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91840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2025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25603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8D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560320"/>
            <a:ext cx="265176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$52B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17220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agentic AI market by 2030 (from $7.8B today)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26480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—  FROM ASSISTANTS TO AUTONOMOUS AGENTS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8D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920240" cy="109728"/>
          </a:xfrm>
          <a:prstGeom prst="rect">
            <a:avLst/>
          </a:prstGeom>
          <a:solidFill>
            <a:srgbClr val="7B8DB5"/>
          </a:solidFill>
          <a:ln w="12700">
            <a:solidFill>
              <a:srgbClr val="7B8D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371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14600" y="9601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960120"/>
            <a:ext cx="192024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115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1755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prompting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1371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60120"/>
            <a:ext cx="1920240" cy="1097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115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1755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1371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812280" y="960120"/>
            <a:ext cx="192024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960120"/>
            <a:ext cx="1920240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115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1755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Self-coordinating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WE ARE HERE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an AI Agent different: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2735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3255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5295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toward objectives, not just responding to single prompts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2004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2735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3255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35295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APIs, queries databases, writes &amp; executes code autonomously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9776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40507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60120" y="4032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Planning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4306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complex tasks into subtasks and executes sequences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9776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40507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49240" y="4032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Context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49240" y="4306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state across long interactions and learns from outcomes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  —  THE GAP BETWEEN HYPE AND REALITY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Agentic AI Maturity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Deloitte Emerging Tech 2025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347472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1920240" cy="502920"/>
          </a:xfrm>
          <a:prstGeom prst="rect">
            <a:avLst/>
          </a:prstGeom>
          <a:solidFill>
            <a:srgbClr val="7B8DB5"/>
          </a:solidFill>
          <a:ln w="12700">
            <a:solidFill>
              <a:srgbClr val="7B8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/ Aware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86200" y="16276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347472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04288"/>
            <a:ext cx="2432304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Piloting Solutions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86200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54096"/>
            <a:ext cx="347472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54096"/>
            <a:ext cx="896112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27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Ready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86200" y="31272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03904"/>
            <a:ext cx="347472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03904"/>
            <a:ext cx="704088" cy="5029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770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86200" y="38770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Obstacles to Scaling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371600"/>
            <a:ext cx="73152" cy="7498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14447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76672" y="1426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 Integration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76672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not designed for agentic interactions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2860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286000"/>
            <a:ext cx="73152" cy="7498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359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76672" y="23408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76672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pipelines create friction — agents need real-time context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2004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200400"/>
            <a:ext cx="73152" cy="7498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2735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76672" y="3255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Trust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76672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have no formal agentic AI strategy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1148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4114800"/>
            <a:ext cx="73152" cy="7498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41879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76672" y="4169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Pressure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76672" y="4480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39% report EBIT impact at enterprise level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ENTERPRISE AGENTIC AI TRENDS DEFINING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914400"/>
          </a:xfrm>
          <a:prstGeom prst="rect">
            <a:avLst/>
          </a:prstGeom>
          <a:solidFill>
            <a:srgbClr val="11225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1498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014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3807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 coordinated by 'puppeteer' orchestrators — 1,445% surge in inquiries (Gartner)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97680" cy="914400"/>
          </a:xfrm>
          <a:prstGeom prst="rect">
            <a:avLst/>
          </a:prstGeom>
          <a:solidFill>
            <a:srgbClr val="11225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60120"/>
            <a:ext cx="73152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1498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1014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Pilots → Production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13807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of companies have agents in production; 2026 is the inflection point from experiment to scale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84248"/>
            <a:ext cx="4297680" cy="914400"/>
          </a:xfrm>
          <a:prstGeom prst="rect">
            <a:avLst/>
          </a:prstGeom>
          <a:solidFill>
            <a:srgbClr val="112250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984248"/>
            <a:ext cx="73152" cy="9144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39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2039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Workforce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24048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treated as digital workers — managing workflows without constant human oversight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984248"/>
            <a:ext cx="4297680" cy="914400"/>
          </a:xfrm>
          <a:prstGeom prst="rect">
            <a:avLst/>
          </a:prstGeom>
          <a:solidFill>
            <a:srgbClr val="112250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984248"/>
            <a:ext cx="73152" cy="91440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039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2039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as Enabler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24048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'Governance agents' monitor other AI for policy compliance — trust enables higher-value deployment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008376"/>
            <a:ext cx="4297680" cy="914400"/>
          </a:xfrm>
          <a:prstGeom prst="rect">
            <a:avLst/>
          </a:prstGeom>
          <a:solidFill>
            <a:srgbClr val="112250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008376"/>
            <a:ext cx="73152" cy="91440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63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440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2.0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3429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limitation — a design principle. AI executes; humans approve at key decision gates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008376"/>
            <a:ext cx="4297680" cy="914400"/>
          </a:xfrm>
          <a:prstGeom prst="rect">
            <a:avLst/>
          </a:prstGeom>
          <a:solidFill>
            <a:srgbClr val="11225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008376"/>
            <a:ext cx="73152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063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Agent Building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37760" y="3429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(not just engineers) now build agents — 15–60 min deployment on modern platforms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23160" y="4572000"/>
            <a:ext cx="4297680" cy="411480"/>
          </a:xfrm>
          <a:prstGeom prst="rect">
            <a:avLst/>
          </a:prstGeom>
          <a:solidFill>
            <a:srgbClr val="11225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32888" y="45902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Open Source &amp; Vendor Lock-in Risk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532888" y="48006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say open source is important to AI strategy; architectural choices now compound over time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 —  WHERE AGENTS ARE WINNING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Adoption Rate by Industry (2026)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NVIDIA State of 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65960" y="1655064"/>
            <a:ext cx="4114800" cy="34747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1655064"/>
            <a:ext cx="329184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4768" y="16459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CPG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65960" y="2203704"/>
            <a:ext cx="4114800" cy="34747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2203704"/>
            <a:ext cx="322326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1945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65960" y="2752344"/>
            <a:ext cx="4114800" cy="34747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2752344"/>
            <a:ext cx="28117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7432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65960" y="3300984"/>
            <a:ext cx="4114800" cy="34747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5960" y="3300984"/>
            <a:ext cx="2606040" cy="3474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32918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65960" y="3849624"/>
            <a:ext cx="4114800" cy="34747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65960" y="3849624"/>
            <a:ext cx="2400300" cy="34747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3840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389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965960" y="4398264"/>
            <a:ext cx="4114800" cy="34747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65960" y="4398264"/>
            <a:ext cx="2263140" cy="34747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4389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Use Cases in Production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141732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146304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17190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autonomous resolution, escalation routing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37760" y="2075688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0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86400" y="212140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Development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23774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write, test &amp; deploy code (Amazon Q)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37760" y="2734056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29200" y="2798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86400" y="277977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Operations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0" y="30358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detection, auto-remediation, RCA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37760" y="3392424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029200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486400" y="34381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0" y="36941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review, regulatory monitoring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37760" y="4050792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02920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486400" y="409651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0" y="43525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forecasting, reporting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OPTIONS  —  THREE PATHS FORWARD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10972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&amp; Watch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gain 12–18 month lead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&gt;40% of agents projects fail anyway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short-term — costly long-term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talent gap widens rapidly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24688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06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RECOMMENDED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14400"/>
            <a:ext cx="2743200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078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Pilots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1517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Value First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2–3 high-ROI use cases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423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governance foundation first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926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measurable EBIT impact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429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based on evidence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4688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4206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VIABLE STARTING POINT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914400"/>
            <a:ext cx="2743200" cy="3931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914400"/>
            <a:ext cx="2743200" cy="1097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078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Enterprise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9360" y="1517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Operations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agents as silicon workforce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2423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core workflows for AI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2926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orchestration platform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3429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3× productivity of peers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4160520"/>
            <a:ext cx="246888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206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RECOMMENDED PATH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—  90-DAY AGENTIC ROADMAP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78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|  Days 1–30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5272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834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719072"/>
            <a:ext cx="292608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719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Agentic AI Task Force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468880"/>
            <a:ext cx="292608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data readiness &amp; API landscape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218688"/>
            <a:ext cx="292608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2186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governance framework &amp; oversight model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968496"/>
            <a:ext cx="292608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9684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2–3 pilot use cases with clear ROI metrics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960120"/>
            <a:ext cx="2834640" cy="640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978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|  Days 31–60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125272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46120" y="1600200"/>
            <a:ext cx="2834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1719072"/>
            <a:ext cx="292608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49040" y="1719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first agent in controlled environment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83280" y="2468880"/>
            <a:ext cx="292608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4904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measurement (cost, time, quality)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0" y="3218688"/>
            <a:ext cx="292608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49040" y="32186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human-in-the-loop checkpoints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83280" y="3968496"/>
            <a:ext cx="292608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49040" y="39684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change management with affected teams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960120"/>
            <a:ext cx="2834640" cy="6400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978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|  Days 61–90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125272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Decision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0" y="1600200"/>
            <a:ext cx="2834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55080" y="1719072"/>
            <a:ext cx="292608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1719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pilot ROI against baseline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55080" y="2468880"/>
            <a:ext cx="292608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2084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board with scale-up business case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55080" y="3218688"/>
            <a:ext cx="292608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20840" y="32186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agent orchestration platform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55080" y="3968496"/>
            <a:ext cx="292608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720840" y="39684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12-month enterprise rollout targets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926080" y="1143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5897880" y="1143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 —  WHAT COULD GO WRONG (AND HOW TO PREVENT IT)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Gartner Warning: Over 40% of agentic AI projects will be cancelled by end of 2027 — primary causes: poor governance, data quality failures, and unclear ROI measurement.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0" y="17739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01000" y="17739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21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/ Security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220370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security agents that monitor for anomalous behavior; sandbox all external-facing agents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973568" y="2240280"/>
            <a:ext cx="713232" cy="2926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73568" y="224028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715768"/>
            <a:ext cx="8412480" cy="512064"/>
          </a:xfrm>
          <a:prstGeom prst="rect">
            <a:avLst/>
          </a:prstGeom>
          <a:solidFill>
            <a:srgbClr val="F7F9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0" y="277063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open-source orchestration (LangGraph, CrewAI); avoid proprietary-only stacks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73568" y="2807208"/>
            <a:ext cx="713232" cy="2926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73568" y="280720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282696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558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Hallucination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60320" y="333756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RAG with real-time enterprise data; build human approval gates for critical decisions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73568" y="3374136"/>
            <a:ext cx="713232" cy="2926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73568" y="337413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849624"/>
            <a:ext cx="8412480" cy="512064"/>
          </a:xfrm>
          <a:prstGeom prst="rect">
            <a:avLst/>
          </a:prstGeom>
          <a:solidFill>
            <a:srgbClr val="F7F9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227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/ Pilot Purgatory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60320" y="390448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explicit success metrics at Day 1; time-box pilots to 60 days with go/no-go decisions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73568" y="3941064"/>
            <a:ext cx="713232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73568" y="394106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4416552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897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Resistance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60320" y="447141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agents as amplifiers not replacements; co-design with frontline teams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973568" y="4507992"/>
            <a:ext cx="713232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73568" y="450799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73152" cy="2926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to make today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03520" cy="749808"/>
          </a:xfrm>
          <a:prstGeom prst="rect">
            <a:avLst/>
          </a:prstGeom>
          <a:solidFill>
            <a:srgbClr val="112250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457200" cy="7498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03911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formation of Agentic AI Task Force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Owner: CIO / CTO   |   Due: 2 weeks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5303520" cy="749808"/>
          </a:xfrm>
          <a:prstGeom prst="rect">
            <a:avLst/>
          </a:prstGeom>
          <a:solidFill>
            <a:srgbClr val="112250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880360"/>
            <a:ext cx="457200" cy="7498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803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295351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2 pilot use cases with $X budget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Owner: Business Unit Leads   |   Due: 30 days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5303520" cy="749808"/>
          </a:xfrm>
          <a:prstGeom prst="rect">
            <a:avLst/>
          </a:prstGeom>
          <a:solidFill>
            <a:srgbClr val="112250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794760"/>
            <a:ext cx="457200" cy="7498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947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86791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enterprise AI governance framework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Owner: CDO / CISO   |   Due: 45 days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organizations seeing the most value from AI treat it as a catalyst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transform — not just as a tool to automate."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50017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McKinsey State of AI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AI: The Enterprise Imperative</dc:title>
  <dc:subject>PptxGenJS Presentation</dc:subject>
  <dc:creator>PptxGenJS</dc:creator>
  <cp:lastModifiedBy>PptxGenJS</cp:lastModifiedBy>
  <cp:revision>1</cp:revision>
  <dcterms:created xsi:type="dcterms:W3CDTF">2026-04-11T04:59:43Z</dcterms:created>
  <dcterms:modified xsi:type="dcterms:W3CDTF">2026-04-11T04:59:43Z</dcterms:modified>
</cp:coreProperties>
</file>